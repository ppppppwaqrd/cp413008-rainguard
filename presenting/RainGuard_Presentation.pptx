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965960"/>
            <a:ext cx="4114800" cy="822960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RainGuard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34640"/>
            <a:ext cx="4114800" cy="1188720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ระบบพยากรณ์ฝนเพื่อการเกษตร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143000"/>
            <a:ext cx="6537960" cy="1051560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พยากรณ์ว่าวันพรุ่งนี้จะมีฝนหรือไม่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เพื่อตัดสินใจพ่นสาร ให้น้ำ หรือเลื่อนเก็บเกี่ยว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331720"/>
            <a:ext cx="1920240" cy="41148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514600"/>
            <a:ext cx="6537960" cy="2743200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รายวิชา CP413008 Machine Learning Engineering for Production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ภาคเรียนที่ 1/2569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กลุ่ม 2 ชื่อกลุ่ม หลอ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สมาชิก: จักรภัทร เวียงสิมมา (673380308-6)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สมาชิก: สรวิศ สำราญบึงแก (673380348-4)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สมาชิก: พรหมพัฒน ศิริภัคกุลวัฒน์ (673380328-0)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5989320"/>
            <a:ext cx="6537960" cy="365760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ซอร์สโค้ด: https://github.com/ppppppwaqrd/CP413008-rainguard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AI Project Canvas ระบบนี้มีประโยชน์อะไร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60120"/>
            <a:ext cx="1132027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ปัญหา: ถ้าพ่นสารแล้วฝนตก ยาจะถูกชะล้าง ถ้าเลื่อนเก็บเกี่ยวทั้งที่ไม่มีฝน จะเสียวันทำงาน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069848"/>
            <a:ext cx="64008" cy="101498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2423160"/>
            <a:ext cx="56509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ผู้ใช้เป้าหมายคือเกษตรกรหรือสหกรณ์ที่ตรวจอากาศของแปลงตนเอง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2423160"/>
            <a:ext cx="56509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ทำนายความน่าจะเป็นว่าวันพรุ่งนี้มีฝน จากอุณหภูมิ ความชื้น ฝนวันนี้ ความกดอากาศ ลม เมฆ และสถานี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4343400"/>
            <a:ext cx="56509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เกิน threshold ที่เลือกไว้ให้เลื่อนการพ่นสารและป้องกันผลผลิต ไม่เกิน threshold ให้ทำงานตามแผน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4343400"/>
            <a:ext cx="56509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คุณค่าคือลดสองกรณีนั้น ด้วยการดูหลายปัจจัยพร้อมกัน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ตัวชี้วัดของโมเดล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1440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4D3A"/>
                </a:solidFill>
                <a:latin typeface="Leelawadee UI"/>
                <a:ea typeface="Leelawadee UI"/>
                <a:cs typeface="Leelawadee UI"/>
              </a:rPr>
              <a:t>พลาดฝนคิด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4D3A"/>
                </a:solidFill>
                <a:latin typeface="Leelawadee UI"/>
                <a:ea typeface="Leelawadee UI"/>
                <a:cs typeface="Leelawadee UI"/>
              </a:rPr>
              <a:t>5 หน่วย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914400"/>
            <a:ext cx="5577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เตือนผิดคิด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1 หน่วย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057400"/>
            <a:ext cx="11320272" cy="365760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Optimizing metric คือ ROC-AUC บนชุดทดสอบที่เป็นอนาคต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450592"/>
            <a:ext cx="11320272" cy="292608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4D3A"/>
                </a:solidFill>
                <a:latin typeface="Leelawadee UI"/>
                <a:ea typeface="Leelawadee UI"/>
                <a:cs typeface="Leelawadee UI"/>
              </a:rPr>
              <a:t>Gating ก่อนนำไปใช้: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81635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ROC-AUC ไม่ต่ำกว่า 0.75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281635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recall (สัดส่วนวันฝนที่จับได้) ไม่ต่ำกว่า 0.70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81635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ขนาดโมเดลไม่เกิน 25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368503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p50 ไม่เกิน 100 มิลลิวินาที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368503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p95 ไม่เกิน 150 มิลลิวินาที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3685032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throughput ไม่ต่ำกว่า 10 คำขอต่อวินาที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617720"/>
            <a:ext cx="11320272" cy="320040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ชุดทดสอบ 42,019 แถว เป็นแถวที่ฝนตก 8,644 แถว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502920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ไม่เตือนเลย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ต้นทุน 43,220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502920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เตือนทุกวัน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ต้นทุน 33,375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502920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1E4D3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โมเดลที่เลือก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ต้นทุน 15,004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แบ่งตามเวลา เพื่อพยากรณ์วันข้างหน้า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60120"/>
            <a:ext cx="113202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weatherAUS 275,410 แถว ตั้งแต่ 1 พฤศจิกายน 2007 ถึง 30 มกราคม 2026 ทิ้งแถวไม่มีป้าย 8,093 แถว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880360"/>
            <a:ext cx="9784080" cy="41148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93391" y="2724912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3291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ชุด train ถึง 2 มกราคม 2021 จำนวน 183,841 แถว</a:t>
            </a:r>
          </a:p>
        </p:txBody>
      </p:sp>
      <p:sp>
        <p:nvSpPr>
          <p:cNvPr id="9" name="Oval 8"/>
          <p:cNvSpPr/>
          <p:nvPr/>
        </p:nvSpPr>
        <p:spPr>
          <a:xfrm>
            <a:off x="5788152" y="2724912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291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ชุด validation ถึง 18 กรกฎาคม 2023 จำนวน 41,457 แถว ใช้เลือก threshold</a:t>
            </a:r>
          </a:p>
        </p:txBody>
      </p:sp>
      <p:sp>
        <p:nvSpPr>
          <p:cNvPr id="11" name="Oval 10"/>
          <p:cNvSpPr/>
          <p:nvPr/>
        </p:nvSpPr>
        <p:spPr>
          <a:xfrm>
            <a:off x="9582912" y="2724912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3291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ชุด test ถึง 30 มกราคม 2026 จำนวน 42,019 แถว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5074920"/>
            <a:ext cx="1132027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ไม่ใช้ RISK_MM (data leakage) เพราะเป็นปริมาณฝนของวันพรุ่งนี้ และ schema gate หยุดข้อมูลที่ผิดกติกา เช่น ฝนติดลบ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5184648"/>
            <a:ext cx="64008" cy="92354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เลือก hist_gb เพราะต้นทุนต่ำสุดและ ROC-AUC สูงสุด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051560"/>
          <a:ext cx="113202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554480"/>
                <a:gridCol w="2148840"/>
                <a:gridCol w="1554480"/>
                <a:gridCol w="359359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โมเดล</a:t>
                      </a:r>
                    </a:p>
                  </a:txBody>
                  <a:tcPr anchor="ctr" marL="91440" marR="73152" marT="36576" marB="36576">
                    <a:solidFill>
                      <a:srgbClr val="1E4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ROC-AUC</a:t>
                      </a:r>
                    </a:p>
                  </a:txBody>
                  <a:tcPr anchor="ctr" marL="91440" marR="73152" marT="36576" marB="36576">
                    <a:solidFill>
                      <a:srgbClr val="1E4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 ของวันฝน</a:t>
                      </a:r>
                    </a:p>
                  </a:txBody>
                  <a:tcPr anchor="ctr" marL="91440" marR="73152" marT="36576" marB="36576">
                    <a:solidFill>
                      <a:srgbClr val="1E4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ต้นทุน</a:t>
                      </a:r>
                    </a:p>
                  </a:txBody>
                  <a:tcPr anchor="ctr" marL="91440" marR="73152" marT="36576" marB="36576">
                    <a:solidFill>
                      <a:srgbClr val="1E4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การตัดสินใจ</a:t>
                      </a:r>
                    </a:p>
                  </a:txBody>
                  <a:tcPr anchor="ctr" marL="91440" marR="73152" marT="36576" marB="36576">
                    <a:solidFill>
                      <a:srgbClr val="1E4D3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logistic regression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0.8712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0.8537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16,143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baseline ผ่าน gating แต่ไม่ได้เลือก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hist_gb</a:t>
                      </a:r>
                    </a:p>
                  </a:txBody>
                  <a:tcPr anchor="ctr" marL="91440" marR="73152" marT="36576" marB="36576">
                    <a:solidFill>
                      <a:srgbClr val="E5F0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0.8877</a:t>
                      </a:r>
                    </a:p>
                  </a:txBody>
                  <a:tcPr anchor="ctr" marL="91440" marR="73152" marT="36576" marB="36576">
                    <a:solidFill>
                      <a:srgbClr val="E5F0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0.8246</a:t>
                      </a:r>
                    </a:p>
                  </a:txBody>
                  <a:tcPr anchor="ctr" marL="91440" marR="73152" marT="36576" marB="36576">
                    <a:solidFill>
                      <a:srgbClr val="E5F0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15,004</a:t>
                      </a:r>
                    </a:p>
                  </a:txBody>
                  <a:tcPr anchor="ctr" marL="91440" marR="73152" marT="36576" marB="36576">
                    <a:solidFill>
                      <a:srgbClr val="E5F0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นำไปให้บริการ เป็นเวอร์ชัน 2</a:t>
                      </a:r>
                    </a:p>
                  </a:txBody>
                  <a:tcPr anchor="ctr" marL="91440" marR="73152" marT="36576" marB="36576">
                    <a:solidFill>
                      <a:srgbClr val="E5F0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random forest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0.8563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0.8348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17,279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C1C1C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 gating แต่ต่ำกว่า baseline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8912" y="4709160"/>
            <a:ext cx="1132027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logistic regression จับวันฝนได้มากกว่า แต่เตือนผิด 9,818 ครั้ง ขณะที่ hist_gb เตือนผิด 7,424 ครั้ง จึงมีต้นทุนต่ำกว่า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4818888"/>
            <a:ext cx="64008" cy="110642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ระบบและเครื่องมือที่ใช้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1440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060704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024128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ข้อมูล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weatherAUS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91440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92424" y="1060704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1024128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ตรวจข้อมูล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481328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Pandera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1440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36208" y="1060704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024128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ฝึก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481328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FeatureBuilder แล้ว MLflow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91440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9992" y="1060704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1024128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481328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ROC-AUC และต้นทุน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2587752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2734056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697480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blessing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2587752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92424" y="2734056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5616" y="2697480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ให้บริการ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2424" y="3154680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587752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36208" y="2734056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697480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154680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Evidently, Prometheus, Grafana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0264" y="2587752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79992" y="2734056"/>
            <a:ext cx="347472" cy="347472"/>
          </a:xfrm>
          <a:prstGeom prst="ellipse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2697480"/>
            <a:ext cx="2075688" cy="420624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ฝึกใหม่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3154680"/>
            <a:ext cx="2478024" cy="740664"/>
          </a:xfrm>
          <a:prstGeom prst="rect">
            <a:avLst/>
          </a:prstGeom>
          <a:noFill/>
        </p:spPr>
        <p:txBody>
          <a:bodyPr wrap="square" lIns="73152" rIns="73152" tIns="54864" bIns="54864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จันทร์ 06:00 หรือ drift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" y="41148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schema ไม่ผ่าน: หยุดและแจ้งเตือน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33672" y="41148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blessing ไม่ผ่าน: คงโมเดลเดิม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2" y="41148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ฝึกใหม่แล้วบันทึกกลับเข้า MLflow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5166360"/>
            <a:ext cx="11320272" cy="100584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คำสั่ง python -m rainguard.cli run เดินครบเส้นทางนี้ และ DAG ใน Airflow เรียกฟังก์ชันชุดเดียวกัน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5276088"/>
            <a:ext cx="64008" cy="78638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ทะเบียนโมเดลและการย้อนกลับ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14400"/>
            <a:ext cx="113202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บันทึกหกอย่าง รวม code_version ซึ่งรอบที่วัดเป็น unknown เพราะยังไม่ได้ init git เวอร์ชันข้อมูล ไฮเปอร์พารามิเตอร์ ตัวชี้วัด ไฟล์ผลลัพธ์ และสภาพแวดล้อม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488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เวอร์ชัน 1 คือ logistic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3672" y="21488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1E4D3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เวอร์ชัน 2 คือ hist_gb ที่ให้บริการ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1488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เวอร์ชัน 3 คือ random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3474720"/>
            <a:ext cx="113202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เวอร์ชัน 4 คือ hist_gb ที่ฝึกใหม่ ROC-AUC 0.8880 recall 0.8638 บนหน้าต่างวันล่าสุดของเวอร์ชันนี้ ไม่ใช่ชุดทดสอบหลัก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4709160"/>
            <a:ext cx="113202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ด่าน blessing ไม่นำโมเดลที่ ROC-AUC ต่ำกว่า baseline ไปให้บริการ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5532120"/>
            <a:ext cx="11320272" cy="68580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4D3A"/>
                </a:solidFill>
                <a:latin typeface="Leelawadee UI"/>
                <a:ea typeface="Leelawadee UI"/>
                <a:cs typeface="Leelawadee UI"/>
              </a:rPr>
              <a:t>alias production ย้ายจากเวอร์ชัน 4 กลับเวอร์ชัน 2 แล้ว ตอนนี้ให้บริการเวอร์ชัน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ประสิทธิภาพของ API และการให้บริการ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60120"/>
            <a:ext cx="1132027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ให้บริการด้วย FastAPI ในคอนเทนเนอร์ ตอบทีละคำขอ เพราะตัดสินใจรายแปลงในตอนเช้า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488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GET /health ตอบ hist_gb เวอร์ชัน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3672" y="21488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POST /predict ที่ฝนเท่ากับ -5 ได้ 422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(rejected_by_schema_gate)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ไม่เข้าโมเดล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21488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p50 41.2 มิลลิวินาที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ต่ำกว่าเกณฑ์ 100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และ p95 68.1 มิลลิวินาที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ต่ำกว่าเกณฑ์ 150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วัดในคอนเทนเนอร์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4846320"/>
            <a:ext cx="11320272" cy="109728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4D3A"/>
                </a:solidFill>
                <a:latin typeface="Leelawadee UI"/>
                <a:ea typeface="Leelawadee UI"/>
                <a:cs typeface="Leelawadee UI"/>
              </a:rPr>
              <a:t>throughput 20.30 คำขอต่อวินาที จากเกณฑ์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การเฝ้าระวังและการฝึกโมเดลใหม่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005840"/>
            <a:ext cx="55321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กรณีจำลอง data drift: เลื่อนอินพุต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drift share 0.524 เกิน 0.30 จึงฝึกใหม่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recall 0.998 ไม่ใช่ตัวสั่งฝึก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15568"/>
            <a:ext cx="64008" cy="224942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005840"/>
            <a:ext cx="55778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กรณีจำลอง concept drift: ไม่เลื่อนอินพุต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drift share 0.000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recall 0.380 และ 0.389 ต่ำกว่า 0.60 สองหน้าต่างติดกัน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15568"/>
            <a:ext cx="64008" cy="2249424"/>
          </a:xfrm>
          <a:prstGeom prst="rect">
            <a:avLst/>
          </a:prstGeom>
          <a:solidFill>
            <a:srgbClr val="8A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" y="3749039"/>
            <a:ext cx="113202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ฝึกใหม่เมื่อวันจันทร์ 06:00 หรือ drift share ถึง 0.30 หรือ recall ต่ำกว่า 0.60 สองหน้าต่างติดกัน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5074920"/>
            <a:ext cx="11320272" cy="96012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รอบจำลองได้เวอร์ชัน 4 บนหน้าต่างวันล่าสุด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424160" cy="53035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CI/CD สาขา main ผ่านทั้งสามงาน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685800" cy="256032"/>
          </a:xfrm>
          <a:prstGeom prst="rect">
            <a:avLst/>
          </a:prstGeom>
          <a:noFill/>
        </p:spPr>
        <p:txBody>
          <a:bodyPr wrap="square" lIns="73152" rIns="73152" tIns="54864" bIns="54864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670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051560"/>
            <a:ext cx="11320272" cy="1234440"/>
          </a:xfrm>
          <a:prstGeom prst="roundRect">
            <a:avLst>
              <a:gd name="adj" fmla="val 8000"/>
            </a:avLst>
          </a:prstGeom>
          <a:solidFill>
            <a:srgbClr val="E5F0EA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GitHub Actions ตรวจคุณภาพโค้ด ความถูกต้องของข้อมูล และคุณภาพโมเดล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61288"/>
            <a:ext cx="64008" cy="1014984"/>
          </a:xfrm>
          <a:prstGeom prst="rect">
            <a:avLst/>
          </a:prstGeom>
          <a:solidFill>
            <a:srgbClr val="1E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2514600"/>
            <a:ext cx="1132027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มี Pull Request ที่ลดขอบล่างของปริมาณฝนจาก 0 เป็น -10 ทำให้ค่า -5 ผ่าน schema ได้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2624328"/>
            <a:ext cx="64008" cy="923544"/>
          </a:xfrm>
          <a:prstGeom prst="rect">
            <a:avLst/>
          </a:prstGeom>
          <a:solidFill>
            <a:srgbClr val="8A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" y="3840480"/>
            <a:ext cx="11320272" cy="1051560"/>
          </a:xfrm>
          <a:prstGeom prst="roundRect">
            <a:avLst>
              <a:gd name="adj" fmla="val 8000"/>
            </a:avLst>
          </a:prstGeom>
          <a:solidFill>
            <a:srgbClr val="F8F1EC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งานตรวจข้อมูลและงานคุณภาพโมเดลของ Pull Request นั้นไม่ผ่าน และไม่ได้ถูกรวมเข้า 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3950208"/>
            <a:ext cx="64008" cy="832103"/>
          </a:xfrm>
          <a:prstGeom prst="rect">
            <a:avLst/>
          </a:prstGeom>
          <a:solidFill>
            <a:srgbClr val="8A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" y="5074920"/>
            <a:ext cx="113202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1C"/>
                </a:solidFill>
                <a:latin typeface="Leelawadee UI"/>
                <a:ea typeface="Leelawadee UI"/>
                <a:cs typeface="Leelawadee UI"/>
              </a:rPr>
              <a:t>มี Pull Request ที่รวมเข้า main และผู้อื่นรันจากเครื่องเปล่าตามคำสั่งใน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RainGuard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